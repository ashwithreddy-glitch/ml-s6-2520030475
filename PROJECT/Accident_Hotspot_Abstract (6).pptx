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4056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B33"/>
          </a:solidFill>
          <a:ln/>
        </p:spPr>
      </p:sp>
      <p:sp>
        <p:nvSpPr>
          <p:cNvPr id="3" name="Shape 1"/>
          <p:cNvSpPr/>
          <p:nvPr/>
        </p:nvSpPr>
        <p:spPr>
          <a:xfrm rot="-480000">
            <a:off x="-1828800" y="3291840"/>
            <a:ext cx="16459200" cy="5486400"/>
          </a:xfrm>
          <a:prstGeom prst="rect">
            <a:avLst/>
          </a:prstGeom>
          <a:solidFill>
            <a:srgbClr val="173F49"/>
          </a:solidFill>
          <a:ln/>
        </p:spPr>
      </p:sp>
      <p:sp>
        <p:nvSpPr>
          <p:cNvPr id="4" name="Text 2"/>
          <p:cNvSpPr/>
          <p:nvPr/>
        </p:nvSpPr>
        <p:spPr>
          <a:xfrm>
            <a:off x="822960" y="777240"/>
            <a:ext cx="10515600" cy="640080"/>
          </a:xfrm>
          <a:prstGeom prst="rect">
            <a:avLst/>
          </a:prstGeom>
          <a:noFill/>
          <a:ln/>
        </p:spPr>
        <p:txBody>
          <a:bodyPr wrap="square" rtlCol="0" anchor="ctr"/>
          <a:lstStyle/>
          <a:p>
            <a:pPr marL="0" indent="0" algn="l">
              <a:buNone/>
            </a:pPr>
            <a:r>
              <a:rPr lang="en-US" sz="3000" b="1" kern="0" spc="100" dirty="0">
                <a:solidFill>
                  <a:srgbClr val="FFFFFF"/>
                </a:solidFill>
                <a:latin typeface="Calibri" pitchFamily="34" charset="0"/>
                <a:ea typeface="Calibri" pitchFamily="34" charset="-122"/>
                <a:cs typeface="Calibri" pitchFamily="34" charset="-120"/>
              </a:rPr>
              <a:t>ACCIDENT HOTSPOT PREDICTION</a:t>
            </a:r>
            <a:endParaRPr lang="en-US" sz="3000" dirty="0"/>
          </a:p>
        </p:txBody>
      </p:sp>
      <p:sp>
        <p:nvSpPr>
          <p:cNvPr id="5" name="Text 3"/>
          <p:cNvSpPr/>
          <p:nvPr/>
        </p:nvSpPr>
        <p:spPr>
          <a:xfrm>
            <a:off x="822960" y="1371600"/>
            <a:ext cx="10515600" cy="502920"/>
          </a:xfrm>
          <a:prstGeom prst="rect">
            <a:avLst/>
          </a:prstGeom>
          <a:noFill/>
          <a:ln/>
        </p:spPr>
        <p:txBody>
          <a:bodyPr wrap="square" rtlCol="0" anchor="ctr"/>
          <a:lstStyle/>
          <a:p>
            <a:pPr marL="0" indent="0">
              <a:buNone/>
            </a:pPr>
            <a:r>
              <a:rPr lang="en-US" sz="2000" i="1" dirty="0">
                <a:solidFill>
                  <a:srgbClr val="4FD1C5"/>
                </a:solidFill>
                <a:latin typeface="Calibri" pitchFamily="34" charset="0"/>
                <a:ea typeface="Calibri" pitchFamily="34" charset="-122"/>
                <a:cs typeface="Calibri" pitchFamily="34" charset="-120"/>
              </a:rPr>
              <a:t>Using Random Forest and Spatial Clustering</a:t>
            </a:r>
            <a:endParaRPr lang="en-US" sz="2000" dirty="0"/>
          </a:p>
        </p:txBody>
      </p:sp>
      <p:sp>
        <p:nvSpPr>
          <p:cNvPr id="6" name="Text 4"/>
          <p:cNvSpPr/>
          <p:nvPr/>
        </p:nvSpPr>
        <p:spPr>
          <a:xfrm>
            <a:off x="822960" y="2057400"/>
            <a:ext cx="10515600" cy="320040"/>
          </a:xfrm>
          <a:prstGeom prst="rect">
            <a:avLst/>
          </a:prstGeom>
          <a:noFill/>
          <a:ln/>
        </p:spPr>
        <p:txBody>
          <a:bodyPr wrap="square" rtlCol="0" anchor="ctr"/>
          <a:lstStyle/>
          <a:p>
            <a:pPr marL="0" indent="0">
              <a:buNone/>
            </a:pPr>
            <a:r>
              <a:rPr lang="en-US" sz="1300" kern="0" spc="150" dirty="0">
                <a:solidFill>
                  <a:srgbClr val="D7E5E7"/>
                </a:solidFill>
                <a:latin typeface="Calibri" pitchFamily="34" charset="0"/>
                <a:ea typeface="Calibri" pitchFamily="34" charset="-122"/>
                <a:cs typeface="Calibri" pitchFamily="34" charset="-120"/>
              </a:rPr>
              <a:t>MACHINE LEARNING (25SC2107E)</a:t>
            </a:r>
            <a:endParaRPr lang="en-US" sz="1300" dirty="0"/>
          </a:p>
        </p:txBody>
      </p:sp>
      <p:sp>
        <p:nvSpPr>
          <p:cNvPr id="7" name="Text 5"/>
          <p:cNvSpPr/>
          <p:nvPr/>
        </p:nvSpPr>
        <p:spPr>
          <a:xfrm>
            <a:off x="822960" y="2359152"/>
            <a:ext cx="10515600" cy="320040"/>
          </a:xfrm>
          <a:prstGeom prst="rect">
            <a:avLst/>
          </a:prstGeom>
          <a:noFill/>
          <a:ln/>
        </p:spPr>
        <p:txBody>
          <a:bodyPr wrap="square" rtlCol="0" anchor="ctr"/>
          <a:lstStyle/>
          <a:p>
            <a:pPr marL="0" indent="0">
              <a:buNone/>
            </a:pPr>
            <a:r>
              <a:rPr lang="en-US" sz="1300" dirty="0">
                <a:solidFill>
                  <a:srgbClr val="D7E5E7"/>
                </a:solidFill>
                <a:latin typeface="Calibri" pitchFamily="34" charset="0"/>
                <a:ea typeface="Calibri" pitchFamily="34" charset="-122"/>
                <a:cs typeface="Calibri" pitchFamily="34" charset="-120"/>
              </a:rPr>
              <a:t>A.Y. 2026–2027</a:t>
            </a:r>
            <a:endParaRPr lang="en-US" sz="1300" dirty="0"/>
          </a:p>
        </p:txBody>
      </p:sp>
      <p:sp>
        <p:nvSpPr>
          <p:cNvPr id="8" name="Shape 6"/>
          <p:cNvSpPr/>
          <p:nvPr/>
        </p:nvSpPr>
        <p:spPr>
          <a:xfrm>
            <a:off x="822960" y="2971800"/>
            <a:ext cx="6035040" cy="2331720"/>
          </a:xfrm>
          <a:prstGeom prst="roundRect">
            <a:avLst>
              <a:gd name="adj" fmla="val 3137"/>
            </a:avLst>
          </a:prstGeom>
          <a:solidFill>
            <a:srgbClr val="173F49"/>
          </a:solidFill>
          <a:ln/>
          <a:effectLst>
            <a:outerShdw blurRad="101600" dist="38100" dir="5400000" algn="bl" rotWithShape="0">
              <a:srgbClr val="000000">
                <a:alpha val="35000"/>
              </a:srgbClr>
            </a:outerShdw>
          </a:effectLst>
        </p:spPr>
      </p:sp>
      <p:sp>
        <p:nvSpPr>
          <p:cNvPr id="9" name="Text 7"/>
          <p:cNvSpPr/>
          <p:nvPr/>
        </p:nvSpPr>
        <p:spPr>
          <a:xfrm>
            <a:off x="1097280" y="3154680"/>
            <a:ext cx="5486400" cy="320040"/>
          </a:xfrm>
          <a:prstGeom prst="rect">
            <a:avLst/>
          </a:prstGeom>
          <a:noFill/>
          <a:ln/>
        </p:spPr>
        <p:txBody>
          <a:bodyPr wrap="square" rtlCol="0" anchor="ctr"/>
          <a:lstStyle/>
          <a:p>
            <a:pPr marL="0" indent="0">
              <a:buNone/>
            </a:pPr>
            <a:r>
              <a:rPr lang="en-US" sz="1300" b="1" kern="0" spc="150" dirty="0">
                <a:solidFill>
                  <a:srgbClr val="4FD1C5"/>
                </a:solidFill>
              </a:rPr>
              <a:t>SUBMITTED BY</a:t>
            </a:r>
            <a:endParaRPr lang="en-US" sz="1300" dirty="0"/>
          </a:p>
        </p:txBody>
      </p:sp>
      <p:sp>
        <p:nvSpPr>
          <p:cNvPr id="10" name="Text 8"/>
          <p:cNvSpPr/>
          <p:nvPr/>
        </p:nvSpPr>
        <p:spPr>
          <a:xfrm>
            <a:off x="1097280" y="3566160"/>
            <a:ext cx="384048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Gadiga Cheran Tej Reddy</a:t>
            </a:r>
            <a:endParaRPr lang="en-US" sz="1400" dirty="0"/>
          </a:p>
        </p:txBody>
      </p:sp>
      <p:sp>
        <p:nvSpPr>
          <p:cNvPr id="11" name="Text 9"/>
          <p:cNvSpPr/>
          <p:nvPr/>
        </p:nvSpPr>
        <p:spPr>
          <a:xfrm>
            <a:off x="4846320" y="3566160"/>
            <a:ext cx="1828800" cy="320040"/>
          </a:xfrm>
          <a:prstGeom prst="rect">
            <a:avLst/>
          </a:prstGeom>
          <a:noFill/>
          <a:ln/>
        </p:spPr>
        <p:txBody>
          <a:bodyPr wrap="square" rtlCol="0" anchor="ctr"/>
          <a:lstStyle/>
          <a:p>
            <a:pPr marL="0" indent="0" algn="r">
              <a:buNone/>
            </a:pPr>
            <a:r>
              <a:rPr lang="en-US" sz="1250" dirty="0">
                <a:solidFill>
                  <a:srgbClr val="D7E5E7"/>
                </a:solidFill>
                <a:latin typeface="Calibri" pitchFamily="34" charset="0"/>
                <a:ea typeface="Calibri" pitchFamily="34" charset="-122"/>
                <a:cs typeface="Calibri" pitchFamily="34" charset="-120"/>
              </a:rPr>
              <a:t>2520030466</a:t>
            </a:r>
            <a:endParaRPr lang="en-US" sz="1250" dirty="0"/>
          </a:p>
        </p:txBody>
      </p:sp>
      <p:sp>
        <p:nvSpPr>
          <p:cNvPr id="12" name="Text 10"/>
          <p:cNvSpPr/>
          <p:nvPr/>
        </p:nvSpPr>
        <p:spPr>
          <a:xfrm>
            <a:off x="1097280" y="4023360"/>
            <a:ext cx="384048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Athineni Arun Tej</a:t>
            </a:r>
            <a:endParaRPr lang="en-US" sz="1400" dirty="0"/>
          </a:p>
        </p:txBody>
      </p:sp>
      <p:sp>
        <p:nvSpPr>
          <p:cNvPr id="13" name="Text 11"/>
          <p:cNvSpPr/>
          <p:nvPr/>
        </p:nvSpPr>
        <p:spPr>
          <a:xfrm>
            <a:off x="4846320" y="4023360"/>
            <a:ext cx="1828800" cy="320040"/>
          </a:xfrm>
          <a:prstGeom prst="rect">
            <a:avLst/>
          </a:prstGeom>
          <a:noFill/>
          <a:ln/>
        </p:spPr>
        <p:txBody>
          <a:bodyPr wrap="square" rtlCol="0" anchor="ctr"/>
          <a:lstStyle/>
          <a:p>
            <a:pPr marL="0" indent="0" algn="r">
              <a:buNone/>
            </a:pPr>
            <a:r>
              <a:rPr lang="en-US" sz="1250" dirty="0">
                <a:solidFill>
                  <a:srgbClr val="D7E5E7"/>
                </a:solidFill>
                <a:latin typeface="Calibri" pitchFamily="34" charset="0"/>
                <a:ea typeface="Calibri" pitchFamily="34" charset="-122"/>
                <a:cs typeface="Calibri" pitchFamily="34" charset="-120"/>
              </a:rPr>
              <a:t>2520030472</a:t>
            </a:r>
            <a:endParaRPr lang="en-US" sz="1250" dirty="0"/>
          </a:p>
        </p:txBody>
      </p:sp>
      <p:sp>
        <p:nvSpPr>
          <p:cNvPr id="14" name="Text 12"/>
          <p:cNvSpPr/>
          <p:nvPr/>
        </p:nvSpPr>
        <p:spPr>
          <a:xfrm>
            <a:off x="1097280" y="4480560"/>
            <a:ext cx="384048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Earla Ashwith Reddy</a:t>
            </a:r>
            <a:endParaRPr lang="en-US" sz="1400" dirty="0"/>
          </a:p>
        </p:txBody>
      </p:sp>
      <p:sp>
        <p:nvSpPr>
          <p:cNvPr id="15" name="Text 13"/>
          <p:cNvSpPr/>
          <p:nvPr/>
        </p:nvSpPr>
        <p:spPr>
          <a:xfrm>
            <a:off x="4846320" y="4480560"/>
            <a:ext cx="1828800" cy="320040"/>
          </a:xfrm>
          <a:prstGeom prst="rect">
            <a:avLst/>
          </a:prstGeom>
          <a:noFill/>
          <a:ln/>
        </p:spPr>
        <p:txBody>
          <a:bodyPr wrap="square" rtlCol="0" anchor="ctr"/>
          <a:lstStyle/>
          <a:p>
            <a:pPr marL="0" indent="0" algn="r">
              <a:buNone/>
            </a:pPr>
            <a:r>
              <a:rPr lang="en-US" sz="1250" dirty="0">
                <a:solidFill>
                  <a:srgbClr val="D7E5E7"/>
                </a:solidFill>
                <a:latin typeface="Calibri" pitchFamily="34" charset="0"/>
                <a:ea typeface="Calibri" pitchFamily="34" charset="-122"/>
                <a:cs typeface="Calibri" pitchFamily="34" charset="-120"/>
              </a:rPr>
              <a:t>2520030475</a:t>
            </a:r>
            <a:endParaRPr lang="en-US" sz="1250" dirty="0"/>
          </a:p>
        </p:txBody>
      </p:sp>
      <p:sp>
        <p:nvSpPr>
          <p:cNvPr id="16" name="Text 14"/>
          <p:cNvSpPr/>
          <p:nvPr/>
        </p:nvSpPr>
        <p:spPr>
          <a:xfrm>
            <a:off x="1097280" y="4983480"/>
            <a:ext cx="5486400" cy="320040"/>
          </a:xfrm>
          <a:prstGeom prst="rect">
            <a:avLst/>
          </a:prstGeom>
          <a:noFill/>
          <a:ln/>
        </p:spPr>
        <p:txBody>
          <a:bodyPr wrap="square" rtlCol="0" anchor="ctr"/>
          <a:lstStyle/>
          <a:p>
            <a:pPr marL="0" indent="0">
              <a:buNone/>
            </a:pPr>
            <a:r>
              <a:rPr lang="en-US" sz="1250" b="1" dirty="0">
                <a:solidFill>
                  <a:srgbClr val="D7E5E7"/>
                </a:solidFill>
                <a:latin typeface="Calibri" pitchFamily="34" charset="0"/>
                <a:ea typeface="Calibri" pitchFamily="34" charset="-122"/>
                <a:cs typeface="Calibri" pitchFamily="34" charset="-120"/>
              </a:rPr>
              <a:t>Team Number: 16    Section: 6</a:t>
            </a:r>
            <a:endParaRPr lang="en-US" sz="1250" dirty="0"/>
          </a:p>
        </p:txBody>
      </p:sp>
      <p:sp>
        <p:nvSpPr>
          <p:cNvPr id="17" name="Shape 15"/>
          <p:cNvSpPr/>
          <p:nvPr/>
        </p:nvSpPr>
        <p:spPr>
          <a:xfrm>
            <a:off x="7086600" y="2971800"/>
            <a:ext cx="4251960" cy="2331720"/>
          </a:xfrm>
          <a:prstGeom prst="roundRect">
            <a:avLst>
              <a:gd name="adj" fmla="val 3137"/>
            </a:avLst>
          </a:prstGeom>
          <a:solidFill>
            <a:srgbClr val="173F49"/>
          </a:solidFill>
          <a:ln/>
          <a:effectLst>
            <a:outerShdw blurRad="101600" dist="38100" dir="5400000" algn="bl" rotWithShape="0">
              <a:srgbClr val="000000">
                <a:alpha val="35000"/>
              </a:srgbClr>
            </a:outerShdw>
          </a:effectLst>
        </p:spPr>
      </p:sp>
      <p:sp>
        <p:nvSpPr>
          <p:cNvPr id="18" name="Text 16"/>
          <p:cNvSpPr/>
          <p:nvPr/>
        </p:nvSpPr>
        <p:spPr>
          <a:xfrm>
            <a:off x="7360920" y="3154680"/>
            <a:ext cx="3749040" cy="320040"/>
          </a:xfrm>
          <a:prstGeom prst="rect">
            <a:avLst/>
          </a:prstGeom>
          <a:noFill/>
          <a:ln/>
        </p:spPr>
        <p:txBody>
          <a:bodyPr wrap="square" rtlCol="0" anchor="ctr"/>
          <a:lstStyle/>
          <a:p>
            <a:pPr marL="0" indent="0">
              <a:buNone/>
            </a:pPr>
            <a:r>
              <a:rPr lang="en-US" sz="1300" b="1" kern="0" spc="120" dirty="0">
                <a:solidFill>
                  <a:srgbClr val="4FD1C5"/>
                </a:solidFill>
              </a:rPr>
              <a:t>UNDER THE GUIDANCE OF</a:t>
            </a:r>
            <a:endParaRPr lang="en-US" sz="1300" dirty="0"/>
          </a:p>
        </p:txBody>
      </p:sp>
      <p:sp>
        <p:nvSpPr>
          <p:cNvPr id="19" name="Text 17"/>
          <p:cNvSpPr/>
          <p:nvPr/>
        </p:nvSpPr>
        <p:spPr>
          <a:xfrm>
            <a:off x="7360920" y="3703320"/>
            <a:ext cx="37490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Ravindra Gaddam</a:t>
            </a:r>
            <a:endParaRPr lang="en-US" sz="1600" dirty="0"/>
          </a:p>
        </p:txBody>
      </p:sp>
      <p:sp>
        <p:nvSpPr>
          <p:cNvPr id="20" name="Text 18"/>
          <p:cNvSpPr/>
          <p:nvPr/>
        </p:nvSpPr>
        <p:spPr>
          <a:xfrm>
            <a:off x="7360920" y="4114800"/>
            <a:ext cx="3749040" cy="274320"/>
          </a:xfrm>
          <a:prstGeom prst="rect">
            <a:avLst/>
          </a:prstGeom>
          <a:noFill/>
          <a:ln/>
        </p:spPr>
        <p:txBody>
          <a:bodyPr wrap="square" rtlCol="0" anchor="ctr"/>
          <a:lstStyle/>
          <a:p>
            <a:pPr marL="0" indent="0">
              <a:buNone/>
            </a:pPr>
            <a:r>
              <a:rPr lang="en-US" sz="1300" dirty="0">
                <a:solidFill>
                  <a:srgbClr val="D7E5E7"/>
                </a:solidFill>
                <a:latin typeface="Calibri" pitchFamily="34" charset="0"/>
                <a:ea typeface="Calibri" pitchFamily="34" charset="-122"/>
                <a:cs typeface="Calibri" pitchFamily="34" charset="-120"/>
              </a:rPr>
              <a:t>Professor,</a:t>
            </a:r>
            <a:endParaRPr lang="en-US" sz="1300" dirty="0"/>
          </a:p>
        </p:txBody>
      </p:sp>
      <p:sp>
        <p:nvSpPr>
          <p:cNvPr id="21" name="Text 19"/>
          <p:cNvSpPr/>
          <p:nvPr/>
        </p:nvSpPr>
        <p:spPr>
          <a:xfrm>
            <a:off x="7360920" y="4370832"/>
            <a:ext cx="3749040" cy="274320"/>
          </a:xfrm>
          <a:prstGeom prst="rect">
            <a:avLst/>
          </a:prstGeom>
          <a:noFill/>
          <a:ln/>
        </p:spPr>
        <p:txBody>
          <a:bodyPr wrap="square" rtlCol="0" anchor="ctr"/>
          <a:lstStyle/>
          <a:p>
            <a:pPr marL="0" indent="0">
              <a:buNone/>
            </a:pPr>
            <a:r>
              <a:rPr lang="en-US" sz="1300" dirty="0">
                <a:solidFill>
                  <a:srgbClr val="D7E5E7"/>
                </a:solidFill>
                <a:latin typeface="Calibri" pitchFamily="34" charset="0"/>
                <a:ea typeface="Calibri" pitchFamily="34" charset="-122"/>
                <a:cs typeface="Calibri" pitchFamily="34" charset="-120"/>
              </a:rPr>
              <a:t>Department of CSE</a:t>
            </a:r>
            <a:endParaRPr lang="en-US" sz="1300" dirty="0"/>
          </a:p>
        </p:txBody>
      </p:sp>
      <p:sp>
        <p:nvSpPr>
          <p:cNvPr id="22" name="Shape 20"/>
          <p:cNvSpPr/>
          <p:nvPr/>
        </p:nvSpPr>
        <p:spPr>
          <a:xfrm>
            <a:off x="11247120" y="6035040"/>
            <a:ext cx="164592" cy="164592"/>
          </a:xfrm>
          <a:prstGeom prst="ellipse">
            <a:avLst/>
          </a:prstGeom>
          <a:solidFill>
            <a:srgbClr val="D64545"/>
          </a:solidFill>
          <a:ln/>
        </p:spPr>
      </p:sp>
      <p:sp>
        <p:nvSpPr>
          <p:cNvPr id="23" name="Shape 21"/>
          <p:cNvSpPr/>
          <p:nvPr/>
        </p:nvSpPr>
        <p:spPr>
          <a:xfrm>
            <a:off x="10881360" y="5760720"/>
            <a:ext cx="109728" cy="109728"/>
          </a:xfrm>
          <a:prstGeom prst="ellipse">
            <a:avLst/>
          </a:prstGeom>
          <a:solidFill>
            <a:srgbClr val="4FD1C5"/>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B33"/>
          </a:solidFill>
          <a:ln/>
        </p:spPr>
      </p:sp>
      <p:sp>
        <p:nvSpPr>
          <p:cNvPr id="3" name="Shape 1"/>
          <p:cNvSpPr/>
          <p:nvPr/>
        </p:nvSpPr>
        <p:spPr>
          <a:xfrm rot="-480000">
            <a:off x="-1828800" y="3291840"/>
            <a:ext cx="16459200" cy="5486400"/>
          </a:xfrm>
          <a:prstGeom prst="rect">
            <a:avLst/>
          </a:prstGeom>
          <a:solidFill>
            <a:srgbClr val="173F49"/>
          </a:solidFill>
          <a:ln/>
        </p:spPr>
      </p:sp>
      <p:sp>
        <p:nvSpPr>
          <p:cNvPr id="4" name="Text 2"/>
          <p:cNvSpPr/>
          <p:nvPr/>
        </p:nvSpPr>
        <p:spPr>
          <a:xfrm>
            <a:off x="822960" y="548640"/>
            <a:ext cx="5486400" cy="548640"/>
          </a:xfrm>
          <a:prstGeom prst="rect">
            <a:avLst/>
          </a:prstGeom>
          <a:noFill/>
          <a:ln/>
        </p:spPr>
        <p:txBody>
          <a:bodyPr wrap="square" rtlCol="0" anchor="ctr"/>
          <a:lstStyle/>
          <a:p>
            <a:pPr marL="0" indent="0">
              <a:buNone/>
            </a:pPr>
            <a:r>
              <a:rPr lang="en-US" sz="2600" b="1" kern="0" spc="200" dirty="0">
                <a:solidFill>
                  <a:srgbClr val="FFFFFF"/>
                </a:solidFill>
              </a:rPr>
              <a:t>ABSTRACT</a:t>
            </a:r>
            <a:endParaRPr lang="en-US" sz="2600" dirty="0"/>
          </a:p>
        </p:txBody>
      </p:sp>
      <p:sp>
        <p:nvSpPr>
          <p:cNvPr id="5" name="Shape 3"/>
          <p:cNvSpPr/>
          <p:nvPr/>
        </p:nvSpPr>
        <p:spPr>
          <a:xfrm>
            <a:off x="822960" y="1234440"/>
            <a:ext cx="10515600" cy="4983480"/>
          </a:xfrm>
          <a:prstGeom prst="roundRect">
            <a:avLst>
              <a:gd name="adj" fmla="val 1468"/>
            </a:avLst>
          </a:prstGeom>
          <a:solidFill>
            <a:srgbClr val="173F49"/>
          </a:solidFill>
          <a:ln/>
          <a:effectLst>
            <a:outerShdw blurRad="101600" dist="38100" dir="5400000" algn="bl" rotWithShape="0">
              <a:srgbClr val="000000">
                <a:alpha val="30000"/>
              </a:srgbClr>
            </a:outerShdw>
          </a:effectLst>
        </p:spPr>
      </p:sp>
      <p:sp>
        <p:nvSpPr>
          <p:cNvPr id="6" name="Text 4"/>
          <p:cNvSpPr/>
          <p:nvPr/>
        </p:nvSpPr>
        <p:spPr>
          <a:xfrm>
            <a:off x="1188720" y="1508760"/>
            <a:ext cx="9784080" cy="4480560"/>
          </a:xfrm>
          <a:prstGeom prst="rect">
            <a:avLst/>
          </a:prstGeom>
          <a:noFill/>
          <a:ln/>
        </p:spPr>
        <p:txBody>
          <a:bodyPr wrap="square" rtlCol="0" anchor="t"/>
          <a:lstStyle/>
          <a:p>
            <a:pPr marL="0" indent="0" algn="l">
              <a:lnSpc>
                <a:spcPct val="125000"/>
              </a:lnSpc>
              <a:buNone/>
            </a:pPr>
            <a:r>
              <a:rPr lang="en-US" sz="1400" dirty="0">
                <a:solidFill>
                  <a:srgbClr val="D7E5E7"/>
                </a:solidFill>
                <a:latin typeface="Calibri" pitchFamily="34" charset="0"/>
                <a:ea typeface="Calibri" pitchFamily="34" charset="-122"/>
                <a:cs typeface="Calibri" pitchFamily="34" charset="-120"/>
              </a:rPr>
              <a:t>Road traffic accidents remain a serious public safety concern, with certain locations experiencing a disproportionately high frequency of incidents. This project, "Accident Hotspot Prediction Using Random Forest and Spatial Clustering," aims to identify and predict accident-prone zones by combining machine learning with spatial data analysis. Historical accident records containing location, time, and environmental attributes are collected and preprocessed to ensure data quality and consistency. Spatial clustering techniques are applied to group geographically related accident points and reveal hotspot regions, while a Random Forest classifier is trained on relevant features to predict the likelihood of accidents in a given area. The performance of the model is evaluated using standard classification metrics such as accuracy, precision, and recall to assess its reliability. The resulting hotspot predictions can assist traffic authorities and urban planners in prioritizing safety interventions, optimizing patrol routes, and implementing preventive measures in high-risk areas. By integrating predictive analytics with spatial insights, this project demonstrates how data-driven approaches can contribute to safer road infrastructure and more effective accident prevention strategies.</a:t>
            </a:r>
            <a:endParaRPr lang="en-US" sz="1400" dirty="0"/>
          </a:p>
        </p:txBody>
      </p:sp>
      <p:sp>
        <p:nvSpPr>
          <p:cNvPr id="7" name="Shape 5"/>
          <p:cNvSpPr/>
          <p:nvPr/>
        </p:nvSpPr>
        <p:spPr>
          <a:xfrm>
            <a:off x="11430000" y="502920"/>
            <a:ext cx="128016" cy="128016"/>
          </a:xfrm>
          <a:prstGeom prst="ellipse">
            <a:avLst/>
          </a:prstGeom>
          <a:solidFill>
            <a:srgbClr val="D64545"/>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B33"/>
          </a:solidFill>
          <a:ln/>
        </p:spPr>
      </p:sp>
      <p:sp>
        <p:nvSpPr>
          <p:cNvPr id="3" name="Shape 1"/>
          <p:cNvSpPr/>
          <p:nvPr/>
        </p:nvSpPr>
        <p:spPr>
          <a:xfrm rot="-480000">
            <a:off x="-1828800" y="3291840"/>
            <a:ext cx="16459200" cy="5486400"/>
          </a:xfrm>
          <a:prstGeom prst="rect">
            <a:avLst/>
          </a:prstGeom>
          <a:solidFill>
            <a:srgbClr val="173F49"/>
          </a:solidFill>
          <a:ln/>
        </p:spPr>
      </p:sp>
      <p:sp>
        <p:nvSpPr>
          <p:cNvPr id="4" name="Text 2"/>
          <p:cNvSpPr/>
          <p:nvPr/>
        </p:nvSpPr>
        <p:spPr>
          <a:xfrm>
            <a:off x="0" y="2880360"/>
            <a:ext cx="12188952" cy="1097280"/>
          </a:xfrm>
          <a:prstGeom prst="rect">
            <a:avLst/>
          </a:prstGeom>
          <a:noFill/>
          <a:ln/>
        </p:spPr>
        <p:txBody>
          <a:bodyPr wrap="square" rtlCol="0" anchor="ctr"/>
          <a:lstStyle/>
          <a:p>
            <a:pPr marL="0" indent="0" algn="ctr">
              <a:buNone/>
            </a:pPr>
            <a:r>
              <a:rPr lang="en-US" sz="4000" b="1" kern="0" spc="200" dirty="0">
                <a:solidFill>
                  <a:srgbClr val="FFFFFF"/>
                </a:solidFill>
              </a:rPr>
              <a:t>THANK YOU</a:t>
            </a:r>
            <a:endParaRPr lang="en-US" sz="4000" dirty="0"/>
          </a:p>
        </p:txBody>
      </p:sp>
      <p:sp>
        <p:nvSpPr>
          <p:cNvPr id="5" name="Text 3"/>
          <p:cNvSpPr/>
          <p:nvPr/>
        </p:nvSpPr>
        <p:spPr>
          <a:xfrm>
            <a:off x="1371600" y="3794760"/>
            <a:ext cx="9445752" cy="457200"/>
          </a:xfrm>
          <a:prstGeom prst="rect">
            <a:avLst/>
          </a:prstGeom>
          <a:noFill/>
          <a:ln/>
        </p:spPr>
        <p:txBody>
          <a:bodyPr wrap="square" rtlCol="0" anchor="ctr"/>
          <a:lstStyle/>
          <a:p>
            <a:pPr marL="0" indent="0" algn="ctr">
              <a:buNone/>
            </a:pPr>
            <a:r>
              <a:rPr lang="en-US" sz="1400" i="1" dirty="0">
                <a:solidFill>
                  <a:srgbClr val="4FD1C5"/>
                </a:solidFill>
              </a:rPr>
              <a:t>Accident Hotspot Prediction Using Random Forest and Spatial Clustering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256</Words>
  <Application>Microsoft Office PowerPoint</Application>
  <PresentationFormat>Widescreen</PresentationFormat>
  <Paragraphs>23</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Arun Tej</cp:lastModifiedBy>
  <cp:revision>2</cp:revision>
  <dcterms:created xsi:type="dcterms:W3CDTF">2026-08-12T04:16:31Z</dcterms:created>
  <dcterms:modified xsi:type="dcterms:W3CDTF">2026-08-12T04:18:03Z</dcterms:modified>
</cp:coreProperties>
</file>